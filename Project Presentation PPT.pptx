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 MT Bold" charset="1" panose="02030802070405020303"/>
      <p:regular r:id="rId20"/>
    </p:embeddedFont>
    <p:embeddedFont>
      <p:font typeface="Times New Roman" charset="1" panose="02020603050405020304"/>
      <p:regular r:id="rId21"/>
    </p:embeddedFont>
    <p:embeddedFont>
      <p:font typeface="Arial Bold" charset="1" panose="020B0704020202020204"/>
      <p:regular r:id="rId22"/>
    </p:embeddedFont>
    <p:embeddedFont>
      <p:font typeface="Times New Roman Bold" charset="1" panose="02020803070505020304"/>
      <p:regular r:id="rId23"/>
    </p:embeddedFont>
    <p:embeddedFont>
      <p:font typeface="Trebuchet MS Bold" charset="1" panose="020B0703020202020204"/>
      <p:regular r:id="rId27"/>
    </p:embeddedFont>
    <p:embeddedFont>
      <p:font typeface="Trebuchet MS" charset="1" panose="020B0603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28700" y="2074207"/>
            <a:ext cx="1844345" cy="1589961"/>
            <a:chOff x="0" y="0"/>
            <a:chExt cx="2459126" cy="21199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59101" cy="2119884"/>
            </a:xfrm>
            <a:custGeom>
              <a:avLst/>
              <a:gdLst/>
              <a:ahLst/>
              <a:cxnLst/>
              <a:rect r="r" b="b" t="t" l="l"/>
              <a:pathLst>
                <a:path h="2119884" w="2459101">
                  <a:moveTo>
                    <a:pt x="0" y="1059942"/>
                  </a:moveTo>
                  <a:lnTo>
                    <a:pt x="529971" y="0"/>
                  </a:lnTo>
                  <a:lnTo>
                    <a:pt x="1929130" y="0"/>
                  </a:lnTo>
                  <a:lnTo>
                    <a:pt x="2459101" y="1059942"/>
                  </a:lnTo>
                  <a:lnTo>
                    <a:pt x="1929130" y="2119884"/>
                  </a:lnTo>
                  <a:lnTo>
                    <a:pt x="529971" y="2119884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632542" y="1791929"/>
            <a:ext cx="2499246" cy="2154517"/>
            <a:chOff x="0" y="0"/>
            <a:chExt cx="3332328" cy="287268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32353" cy="2872740"/>
            </a:xfrm>
            <a:custGeom>
              <a:avLst/>
              <a:gdLst/>
              <a:ahLst/>
              <a:cxnLst/>
              <a:rect r="r" b="b" t="t" l="l"/>
              <a:pathLst>
                <a:path h="2872740" w="3332353">
                  <a:moveTo>
                    <a:pt x="0" y="1436370"/>
                  </a:moveTo>
                  <a:lnTo>
                    <a:pt x="718185" y="0"/>
                  </a:lnTo>
                  <a:lnTo>
                    <a:pt x="2614168" y="0"/>
                  </a:lnTo>
                  <a:lnTo>
                    <a:pt x="3332353" y="1436370"/>
                  </a:lnTo>
                  <a:lnTo>
                    <a:pt x="2614168" y="2872740"/>
                  </a:lnTo>
                  <a:lnTo>
                    <a:pt x="718185" y="2872740"/>
                  </a:lnTo>
                  <a:close/>
                </a:path>
              </a:pathLst>
            </a:custGeom>
            <a:solidFill>
              <a:srgbClr val="42D0A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707494" y="7849772"/>
            <a:ext cx="1077392" cy="928783"/>
            <a:chOff x="0" y="0"/>
            <a:chExt cx="1436522" cy="123837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36497" cy="1238377"/>
            </a:xfrm>
            <a:custGeom>
              <a:avLst/>
              <a:gdLst/>
              <a:ahLst/>
              <a:cxnLst/>
              <a:rect r="r" b="b" t="t" l="l"/>
              <a:pathLst>
                <a:path h="1238377" w="1436497">
                  <a:moveTo>
                    <a:pt x="0" y="619252"/>
                  </a:moveTo>
                  <a:lnTo>
                    <a:pt x="309626" y="0"/>
                  </a:lnTo>
                  <a:lnTo>
                    <a:pt x="1126871" y="0"/>
                  </a:lnTo>
                  <a:lnTo>
                    <a:pt x="1436497" y="619252"/>
                  </a:lnTo>
                  <a:lnTo>
                    <a:pt x="1126871" y="1238377"/>
                  </a:lnTo>
                  <a:lnTo>
                    <a:pt x="309626" y="1238377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56754" y="1651959"/>
            <a:ext cx="977417" cy="842601"/>
            <a:chOff x="0" y="0"/>
            <a:chExt cx="1303223" cy="11234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03274" cy="1123442"/>
            </a:xfrm>
            <a:custGeom>
              <a:avLst/>
              <a:gdLst/>
              <a:ahLst/>
              <a:cxnLst/>
              <a:rect r="r" b="b" t="t" l="l"/>
              <a:pathLst>
                <a:path h="1123442" w="1303274">
                  <a:moveTo>
                    <a:pt x="0" y="561721"/>
                  </a:moveTo>
                  <a:lnTo>
                    <a:pt x="280924" y="0"/>
                  </a:lnTo>
                  <a:lnTo>
                    <a:pt x="1022350" y="0"/>
                  </a:lnTo>
                  <a:lnTo>
                    <a:pt x="1303274" y="561721"/>
                  </a:lnTo>
                  <a:lnTo>
                    <a:pt x="1022350" y="1123442"/>
                  </a:lnTo>
                  <a:lnTo>
                    <a:pt x="280924" y="1123442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993752" y="1609725"/>
            <a:ext cx="6411410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Season</a:t>
            </a:r>
            <a:r>
              <a:rPr lang="en-US" sz="5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 Agriculture Performance Analysis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01390" y="7073881"/>
            <a:ext cx="4917253" cy="933469"/>
            <a:chOff x="0" y="0"/>
            <a:chExt cx="6556337" cy="124462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66675"/>
              <a:ext cx="6556337" cy="688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19"/>
                </a:lnSpc>
              </a:pPr>
              <a:r>
                <a:rPr lang="en-US" sz="309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SUBMITTED BY :-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641375"/>
              <a:ext cx="4615586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Yash Tolani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993752" y="8321675"/>
            <a:ext cx="8906001" cy="936625"/>
            <a:chOff x="0" y="0"/>
            <a:chExt cx="11874668" cy="1248834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0" y="-209550"/>
              <a:ext cx="11874668" cy="836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69"/>
                </a:lnSpc>
              </a:pPr>
              <a:r>
                <a:rPr lang="en-US" sz="309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AICTE Student ID :- 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645584"/>
              <a:ext cx="7691925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STU682f3bce808201747925966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01390" y="8321675"/>
            <a:ext cx="8906001" cy="936625"/>
            <a:chOff x="0" y="0"/>
            <a:chExt cx="11874668" cy="1248834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209550"/>
              <a:ext cx="11874668" cy="836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269"/>
                </a:lnSpc>
              </a:pPr>
              <a:r>
                <a:rPr lang="en-US" sz="3099" b="true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College :- 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645584"/>
              <a:ext cx="10577711" cy="603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80"/>
                </a:lnSpc>
              </a:pPr>
              <a:r>
                <a:rPr lang="en-US" sz="29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Indore Institute of Science and Technology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993528" y="4396254"/>
            <a:ext cx="4141137" cy="4896612"/>
            <a:chOff x="0" y="0"/>
            <a:chExt cx="5521516" cy="65288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21579" cy="6528816"/>
            </a:xfrm>
            <a:custGeom>
              <a:avLst/>
              <a:gdLst/>
              <a:ahLst/>
              <a:cxnLst/>
              <a:rect r="r" b="b" t="t" l="l"/>
              <a:pathLst>
                <a:path h="6528816" w="5521579">
                  <a:moveTo>
                    <a:pt x="0" y="0"/>
                  </a:moveTo>
                  <a:lnTo>
                    <a:pt x="5521579" y="0"/>
                  </a:lnTo>
                  <a:lnTo>
                    <a:pt x="5521579" y="6528816"/>
                  </a:lnTo>
                  <a:lnTo>
                    <a:pt x="0" y="6528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0038" y="3171682"/>
            <a:ext cx="10028534" cy="5944895"/>
            <a:chOff x="0" y="0"/>
            <a:chExt cx="1955441" cy="11591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55441" cy="1159182"/>
            </a:xfrm>
            <a:custGeom>
              <a:avLst/>
              <a:gdLst/>
              <a:ahLst/>
              <a:cxnLst/>
              <a:rect r="r" b="b" t="t" l="l"/>
              <a:pathLst>
                <a:path h="1159182" w="1955441">
                  <a:moveTo>
                    <a:pt x="21712" y="0"/>
                  </a:moveTo>
                  <a:lnTo>
                    <a:pt x="1933729" y="0"/>
                  </a:lnTo>
                  <a:cubicBezTo>
                    <a:pt x="1945720" y="0"/>
                    <a:pt x="1955441" y="9721"/>
                    <a:pt x="1955441" y="21712"/>
                  </a:cubicBezTo>
                  <a:lnTo>
                    <a:pt x="1955441" y="1137470"/>
                  </a:lnTo>
                  <a:cubicBezTo>
                    <a:pt x="1955441" y="1149461"/>
                    <a:pt x="1945720" y="1159182"/>
                    <a:pt x="1933729" y="1159182"/>
                  </a:cubicBezTo>
                  <a:lnTo>
                    <a:pt x="21712" y="1159182"/>
                  </a:lnTo>
                  <a:cubicBezTo>
                    <a:pt x="15954" y="1159182"/>
                    <a:pt x="10431" y="1156894"/>
                    <a:pt x="6359" y="1152822"/>
                  </a:cubicBezTo>
                  <a:cubicBezTo>
                    <a:pt x="2288" y="1148751"/>
                    <a:pt x="0" y="1143228"/>
                    <a:pt x="0" y="1137470"/>
                  </a:cubicBezTo>
                  <a:lnTo>
                    <a:pt x="0" y="21712"/>
                  </a:lnTo>
                  <a:cubicBezTo>
                    <a:pt x="0" y="9721"/>
                    <a:pt x="9721" y="0"/>
                    <a:pt x="21712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955441" cy="1168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13936" y="1017956"/>
            <a:ext cx="10310527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 STATEMENT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7588" y="3432057"/>
            <a:ext cx="9261222" cy="568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ontext :-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Agricultural performance varies significantly across seasons due to changing environmental conditions, irrigation practices, and market prices.</a:t>
            </a:r>
          </a:p>
          <a:p>
            <a:pPr algn="l">
              <a:lnSpc>
                <a:spcPts val="1800"/>
              </a:lnSpc>
            </a:pP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Issue :-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Raw agricultural data is complex and fails to directly explain seasonal trends, resource efficiencies, or profitability variations.</a:t>
            </a:r>
          </a:p>
          <a:p>
            <a:pPr algn="l">
              <a:lnSpc>
                <a:spcPts val="1800"/>
              </a:lnSpc>
            </a:pP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 :-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 4,000 farm records across 28 parameters to identify seasonal patterns, yield differences, resource utilization, and economic outcomes.</a:t>
            </a:r>
          </a:p>
          <a:p>
            <a:pPr algn="l">
              <a:lnSpc>
                <a:spcPts val="419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000125"/>
            <a:ext cx="10690744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b="true" sz="5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PROJECT DESCRIPTION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3651" y="3335813"/>
            <a:ext cx="11867964" cy="6461502"/>
            <a:chOff x="0" y="0"/>
            <a:chExt cx="2390889" cy="13017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90889" cy="1301717"/>
            </a:xfrm>
            <a:custGeom>
              <a:avLst/>
              <a:gdLst/>
              <a:ahLst/>
              <a:cxnLst/>
              <a:rect r="r" b="b" t="t" l="l"/>
              <a:pathLst>
                <a:path h="1301717" w="2390889">
                  <a:moveTo>
                    <a:pt x="28030" y="0"/>
                  </a:moveTo>
                  <a:lnTo>
                    <a:pt x="2362859" y="0"/>
                  </a:lnTo>
                  <a:cubicBezTo>
                    <a:pt x="2370293" y="0"/>
                    <a:pt x="2377423" y="2953"/>
                    <a:pt x="2382679" y="8210"/>
                  </a:cubicBezTo>
                  <a:cubicBezTo>
                    <a:pt x="2387936" y="13467"/>
                    <a:pt x="2390889" y="20596"/>
                    <a:pt x="2390889" y="28030"/>
                  </a:cubicBezTo>
                  <a:lnTo>
                    <a:pt x="2390889" y="1273687"/>
                  </a:lnTo>
                  <a:cubicBezTo>
                    <a:pt x="2390889" y="1289168"/>
                    <a:pt x="2378340" y="1301717"/>
                    <a:pt x="2362859" y="1301717"/>
                  </a:cubicBezTo>
                  <a:lnTo>
                    <a:pt x="28030" y="1301717"/>
                  </a:lnTo>
                  <a:cubicBezTo>
                    <a:pt x="20596" y="1301717"/>
                    <a:pt x="13467" y="1298764"/>
                    <a:pt x="8210" y="1293507"/>
                  </a:cubicBezTo>
                  <a:cubicBezTo>
                    <a:pt x="2953" y="1288251"/>
                    <a:pt x="0" y="1281121"/>
                    <a:pt x="0" y="1273687"/>
                  </a:cubicBezTo>
                  <a:lnTo>
                    <a:pt x="0" y="28030"/>
                  </a:lnTo>
                  <a:cubicBezTo>
                    <a:pt x="0" y="20596"/>
                    <a:pt x="2953" y="13467"/>
                    <a:pt x="8210" y="8210"/>
                  </a:cubicBezTo>
                  <a:cubicBezTo>
                    <a:pt x="13467" y="2953"/>
                    <a:pt x="20596" y="0"/>
                    <a:pt x="28030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390889" cy="1311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44927" y="3252470"/>
            <a:ext cx="10944827" cy="604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 :-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End-to-end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 project analyzing agricultural performance across Kharif, Rabi, and Zaid seasons in 8 major Indian states.</a:t>
            </a:r>
          </a:p>
          <a:p>
            <a:pPr algn="l">
              <a:lnSpc>
                <a:spcPts val="139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Processing :-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Cleaned missing values (Rainfall, Soil Moisture, Yield) and engineered key performance indicators like Profit Margin %.</a:t>
            </a:r>
          </a:p>
          <a:p>
            <a:pPr algn="l">
              <a:lnSpc>
                <a:spcPts val="167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Analytical Approach :-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(EDA), comparative seasonal profiling, correlation analysis, and statistical hypothesis testing.</a:t>
            </a:r>
          </a:p>
          <a:p>
            <a:pPr algn="l">
              <a:lnSpc>
                <a:spcPts val="167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Focus Areas :- </a:t>
            </a: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Crop yield evaluation, water efficiency, disease/pest risk assessment, and financial viability (Revenue vs. Cost).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8700" y="1000125"/>
            <a:ext cx="14886222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WHO ARE THE END USERS 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3268131"/>
            <a:ext cx="10922003" cy="634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Farmers &amp; Agr</a:t>
            </a: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icultural Advisors :- 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select optimal crop-season combinations to maximize profitability and minimize loss.</a:t>
            </a:r>
          </a:p>
          <a:p>
            <a:pPr algn="l">
              <a:lnSpc>
                <a:spcPts val="1800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Agricult</a:t>
            </a: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ural Policy Makers :- 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evidence-based decisions for seasonal resource distribution, fertilizer allocations, and subsidies.</a:t>
            </a:r>
          </a:p>
          <a:p>
            <a:pPr algn="l">
              <a:lnSpc>
                <a:spcPts val="1800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Irrigation &amp; Water Resource Managers :- 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Assists in optimizing irrigation methods (Drip vs. Flood/Sprinkler) during water-scarce seasons like Zaid.</a:t>
            </a:r>
          </a:p>
          <a:p>
            <a:pPr algn="l">
              <a:lnSpc>
                <a:spcPts val="1800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Agri-Fintech &amp; Supply Chain Analysts :- </a:t>
            </a:r>
            <a:r>
              <a:rPr lang="en-US" sz="2799" spc="1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Aids in risk modeling, disease risk tracking, and market price forecasting.</a:t>
            </a:r>
          </a:p>
          <a:p>
            <a:pPr algn="l">
              <a:lnSpc>
                <a:spcPts val="3750"/>
              </a:lnSpc>
            </a:pPr>
          </a:p>
          <a:p>
            <a:pPr algn="l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044238" y="664893"/>
            <a:ext cx="542925" cy="542925"/>
            <a:chOff x="0" y="0"/>
            <a:chExt cx="723900" cy="7239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3900" cy="723900"/>
            </a:xfrm>
            <a:custGeom>
              <a:avLst/>
              <a:gdLst/>
              <a:ahLst/>
              <a:cxnLst/>
              <a:rect r="r" b="b" t="t" l="l"/>
              <a:pathLst>
                <a:path h="723900" w="723900">
                  <a:moveTo>
                    <a:pt x="0" y="361950"/>
                  </a:moveTo>
                  <a:cubicBezTo>
                    <a:pt x="0" y="162052"/>
                    <a:pt x="162052" y="0"/>
                    <a:pt x="361950" y="0"/>
                  </a:cubicBezTo>
                  <a:cubicBezTo>
                    <a:pt x="561848" y="0"/>
                    <a:pt x="723900" y="162052"/>
                    <a:pt x="723900" y="361950"/>
                  </a:cubicBezTo>
                  <a:cubicBezTo>
                    <a:pt x="723900" y="561848"/>
                    <a:pt x="561848" y="723900"/>
                    <a:pt x="361950" y="723900"/>
                  </a:cubicBezTo>
                  <a:cubicBezTo>
                    <a:pt x="162052" y="723900"/>
                    <a:pt x="0" y="561848"/>
                    <a:pt x="0" y="361950"/>
                  </a:cubicBez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10873" y="8408994"/>
            <a:ext cx="981342" cy="981342"/>
            <a:chOff x="0" y="0"/>
            <a:chExt cx="1308456" cy="13084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08354" cy="1308354"/>
            </a:xfrm>
            <a:custGeom>
              <a:avLst/>
              <a:gdLst/>
              <a:ahLst/>
              <a:cxnLst/>
              <a:rect r="r" b="b" t="t" l="l"/>
              <a:pathLst>
                <a:path h="1308354" w="1308354">
                  <a:moveTo>
                    <a:pt x="0" y="654177"/>
                  </a:moveTo>
                  <a:cubicBezTo>
                    <a:pt x="0" y="292862"/>
                    <a:pt x="292862" y="0"/>
                    <a:pt x="654177" y="0"/>
                  </a:cubicBezTo>
                  <a:cubicBezTo>
                    <a:pt x="1015492" y="0"/>
                    <a:pt x="1308354" y="292862"/>
                    <a:pt x="1308354" y="654177"/>
                  </a:cubicBezTo>
                  <a:cubicBezTo>
                    <a:pt x="1308354" y="1015492"/>
                    <a:pt x="1015492" y="1308354"/>
                    <a:pt x="654177" y="1308354"/>
                  </a:cubicBezTo>
                  <a:cubicBezTo>
                    <a:pt x="292862" y="1308354"/>
                    <a:pt x="0" y="1015492"/>
                    <a:pt x="0" y="654177"/>
                  </a:cubicBez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025689" y="9198654"/>
            <a:ext cx="376723" cy="376723"/>
            <a:chOff x="0" y="0"/>
            <a:chExt cx="502298" cy="5022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2285" cy="502285"/>
            </a:xfrm>
            <a:custGeom>
              <a:avLst/>
              <a:gdLst/>
              <a:ahLst/>
              <a:cxnLst/>
              <a:rect r="r" b="b" t="t" l="l"/>
              <a:pathLst>
                <a:path h="502285" w="502285">
                  <a:moveTo>
                    <a:pt x="0" y="251206"/>
                  </a:moveTo>
                  <a:cubicBezTo>
                    <a:pt x="0" y="112395"/>
                    <a:pt x="112395" y="0"/>
                    <a:pt x="251206" y="0"/>
                  </a:cubicBezTo>
                  <a:cubicBezTo>
                    <a:pt x="390017" y="0"/>
                    <a:pt x="502285" y="112395"/>
                    <a:pt x="502285" y="251206"/>
                  </a:cubicBezTo>
                  <a:cubicBezTo>
                    <a:pt x="502285" y="390017"/>
                    <a:pt x="389890" y="502285"/>
                    <a:pt x="251206" y="502285"/>
                  </a:cubicBezTo>
                  <a:cubicBezTo>
                    <a:pt x="112522" y="502285"/>
                    <a:pt x="0" y="389890"/>
                    <a:pt x="0" y="251206"/>
                  </a:cubicBezTo>
                  <a:close/>
                </a:path>
              </a:pathLst>
            </a:custGeom>
            <a:solidFill>
              <a:srgbClr val="2E946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7937" y="5771960"/>
            <a:ext cx="2590800" cy="4515040"/>
            <a:chOff x="0" y="0"/>
            <a:chExt cx="3454400" cy="6020054"/>
          </a:xfrm>
        </p:grpSpPr>
        <p:sp>
          <p:nvSpPr>
            <p:cNvPr name="Freeform 27" id="27"/>
            <p:cNvSpPr/>
            <p:nvPr/>
          </p:nvSpPr>
          <p:spPr>
            <a:xfrm flipH="true" flipV="false" rot="0">
              <a:off x="0" y="0"/>
              <a:ext cx="3454400" cy="6020054"/>
            </a:xfrm>
            <a:custGeom>
              <a:avLst/>
              <a:gdLst/>
              <a:ahLst/>
              <a:cxnLst/>
              <a:rect r="r" b="b" t="t" l="l"/>
              <a:pathLst>
                <a:path h="6020054" w="3454400">
                  <a:moveTo>
                    <a:pt x="3454400" y="0"/>
                  </a:moveTo>
                  <a:lnTo>
                    <a:pt x="0" y="0"/>
                  </a:lnTo>
                  <a:lnTo>
                    <a:pt x="0" y="6020054"/>
                  </a:lnTo>
                  <a:lnTo>
                    <a:pt x="3454400" y="6020054"/>
                  </a:lnTo>
                  <a:lnTo>
                    <a:pt x="3454400" y="0"/>
                  </a:lnTo>
                  <a:close/>
                </a:path>
              </a:pathLst>
            </a:custGeom>
            <a:blipFill>
              <a:blip r:embed="rId3"/>
              <a:stretch>
                <a:fillRect l="-5923" t="0" r="-5922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28700" y="1000125"/>
            <a:ext cx="706278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b="true" sz="54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TECHNOLOGY USED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7937" y="6026957"/>
            <a:ext cx="673103" cy="4267200"/>
            <a:chOff x="0" y="0"/>
            <a:chExt cx="897471" cy="5689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2618737" y="2548661"/>
            <a:ext cx="10579741" cy="6461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</a:t>
            </a: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rogramming Language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 – Core language for data processing, EDA, and statistical modeling.</a:t>
            </a:r>
          </a:p>
          <a:p>
            <a:pPr algn="l">
              <a:lnSpc>
                <a:spcPts val="1800"/>
              </a:lnSpc>
            </a:pP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Manipulation </a:t>
            </a: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 &amp; NumPy – Data cleaning (120 missing values), grouping, and feature engineering (Profit Margin %).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Visualization: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Matplotlib &amp; Seaborn – Generating Heatmaps, Seasonal Profit Boxplots, and Bar Charts.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Statistical Analysis: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SciPy (scipy.stats) – One-Way ANOVA testing (p-value = 1.71 × 10⁻¹⁵) and Pearson correlation analysis.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Environment: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 Colab / Jupyter Notebook – Interactive IDE for code execution and visual reporting.</a:t>
            </a:r>
          </a:p>
          <a:p>
            <a:pPr algn="l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353146" y="2462738"/>
            <a:ext cx="9260626" cy="3557062"/>
          </a:xfrm>
          <a:custGeom>
            <a:avLst/>
            <a:gdLst/>
            <a:ahLst/>
            <a:cxnLst/>
            <a:rect r="r" b="b" t="t" l="l"/>
            <a:pathLst>
              <a:path h="3557062" w="9260626">
                <a:moveTo>
                  <a:pt x="0" y="0"/>
                </a:moveTo>
                <a:lnTo>
                  <a:pt x="9260626" y="0"/>
                </a:lnTo>
                <a:lnTo>
                  <a:pt x="9260626" y="3557062"/>
                </a:lnTo>
                <a:lnTo>
                  <a:pt x="0" y="35570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1353146" y="6266014"/>
            <a:ext cx="9260626" cy="3441866"/>
          </a:xfrm>
          <a:custGeom>
            <a:avLst/>
            <a:gdLst/>
            <a:ahLst/>
            <a:cxnLst/>
            <a:rect r="r" b="b" t="t" l="l"/>
            <a:pathLst>
              <a:path h="3441866" w="9260626">
                <a:moveTo>
                  <a:pt x="0" y="0"/>
                </a:moveTo>
                <a:lnTo>
                  <a:pt x="9260626" y="0"/>
                </a:lnTo>
                <a:lnTo>
                  <a:pt x="9260626" y="3441866"/>
                </a:lnTo>
                <a:lnTo>
                  <a:pt x="0" y="3441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6" id="26"/>
          <p:cNvSpPr txBox="true"/>
          <p:nvPr/>
        </p:nvSpPr>
        <p:spPr>
          <a:xfrm rot="0">
            <a:off x="1013936" y="1028700"/>
            <a:ext cx="3245941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23448" y="1152525"/>
            <a:ext cx="9417993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[ </a:t>
            </a: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Seasonal &amp; State-wise Yield Performance ]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709140" y="2115352"/>
            <a:ext cx="8904632" cy="3507098"/>
          </a:xfrm>
          <a:custGeom>
            <a:avLst/>
            <a:gdLst/>
            <a:ahLst/>
            <a:cxnLst/>
            <a:rect r="r" b="b" t="t" l="l"/>
            <a:pathLst>
              <a:path h="3507098" w="8904632">
                <a:moveTo>
                  <a:pt x="0" y="0"/>
                </a:moveTo>
                <a:lnTo>
                  <a:pt x="8904632" y="0"/>
                </a:lnTo>
                <a:lnTo>
                  <a:pt x="8904632" y="3507097"/>
                </a:lnTo>
                <a:lnTo>
                  <a:pt x="0" y="3507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6418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709140" y="5857632"/>
            <a:ext cx="10685709" cy="4258414"/>
          </a:xfrm>
          <a:custGeom>
            <a:avLst/>
            <a:gdLst/>
            <a:ahLst/>
            <a:cxnLst/>
            <a:rect r="r" b="b" t="t" l="l"/>
            <a:pathLst>
              <a:path h="4258414" w="10685709">
                <a:moveTo>
                  <a:pt x="0" y="0"/>
                </a:moveTo>
                <a:lnTo>
                  <a:pt x="10685709" y="0"/>
                </a:lnTo>
                <a:lnTo>
                  <a:pt x="10685709" y="4258413"/>
                </a:lnTo>
                <a:lnTo>
                  <a:pt x="0" y="4258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1028700" y="1028700"/>
            <a:ext cx="303549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610219" y="1152525"/>
            <a:ext cx="9074944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[ Crop Ec</a:t>
            </a: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onomics &amp; Market Price Trends ]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526513" y="2288714"/>
            <a:ext cx="9153934" cy="7769442"/>
          </a:xfrm>
          <a:custGeom>
            <a:avLst/>
            <a:gdLst/>
            <a:ahLst/>
            <a:cxnLst/>
            <a:rect r="r" b="b" t="t" l="l"/>
            <a:pathLst>
              <a:path h="7769442" w="9153934">
                <a:moveTo>
                  <a:pt x="0" y="0"/>
                </a:moveTo>
                <a:lnTo>
                  <a:pt x="9153934" y="0"/>
                </a:lnTo>
                <a:lnTo>
                  <a:pt x="9153934" y="7769442"/>
                </a:lnTo>
                <a:lnTo>
                  <a:pt x="0" y="7769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990590" y="1028700"/>
            <a:ext cx="303549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83782" y="1152525"/>
            <a:ext cx="847367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[ Regional Reve</a:t>
            </a: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nue &amp; Cost Breakdown ]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24227" y="2190030"/>
            <a:ext cx="9726401" cy="7659541"/>
          </a:xfrm>
          <a:custGeom>
            <a:avLst/>
            <a:gdLst/>
            <a:ahLst/>
            <a:cxnLst/>
            <a:rect r="r" b="b" t="t" l="l"/>
            <a:pathLst>
              <a:path h="7659541" w="9726401">
                <a:moveTo>
                  <a:pt x="0" y="0"/>
                </a:moveTo>
                <a:lnTo>
                  <a:pt x="9726401" y="0"/>
                </a:lnTo>
                <a:lnTo>
                  <a:pt x="9726401" y="7659540"/>
                </a:lnTo>
                <a:lnTo>
                  <a:pt x="0" y="76595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990590" y="1028700"/>
            <a:ext cx="303549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78787" y="1152525"/>
            <a:ext cx="560858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[ Average Profit By State</a:t>
            </a: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]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515961" y="2536980"/>
            <a:ext cx="7020256" cy="4680170"/>
          </a:xfrm>
          <a:custGeom>
            <a:avLst/>
            <a:gdLst/>
            <a:ahLst/>
            <a:cxnLst/>
            <a:rect r="r" b="b" t="t" l="l"/>
            <a:pathLst>
              <a:path h="4680170" w="7020256">
                <a:moveTo>
                  <a:pt x="0" y="0"/>
                </a:moveTo>
                <a:lnTo>
                  <a:pt x="7020256" y="0"/>
                </a:lnTo>
                <a:lnTo>
                  <a:pt x="7020256" y="4680171"/>
                </a:lnTo>
                <a:lnTo>
                  <a:pt x="0" y="46801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7755273" y="2536980"/>
            <a:ext cx="6962214" cy="4723869"/>
          </a:xfrm>
          <a:custGeom>
            <a:avLst/>
            <a:gdLst/>
            <a:ahLst/>
            <a:cxnLst/>
            <a:rect r="r" b="b" t="t" l="l"/>
            <a:pathLst>
              <a:path h="4723869" w="6962214">
                <a:moveTo>
                  <a:pt x="0" y="0"/>
                </a:moveTo>
                <a:lnTo>
                  <a:pt x="6962214" y="0"/>
                </a:lnTo>
                <a:lnTo>
                  <a:pt x="6962214" y="4723869"/>
                </a:lnTo>
                <a:lnTo>
                  <a:pt x="0" y="4723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8" id="28"/>
          <p:cNvSpPr txBox="true"/>
          <p:nvPr/>
        </p:nvSpPr>
        <p:spPr>
          <a:xfrm rot="0">
            <a:off x="990590" y="1028700"/>
            <a:ext cx="303549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RESULTS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516002" y="7419975"/>
            <a:ext cx="34407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Soil pH vs Agricultural Yield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466147" y="7419975"/>
            <a:ext cx="311988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  <a:spcBef>
                <a:spcPct val="0"/>
              </a:spcBef>
            </a:pPr>
            <a:r>
              <a:rPr lang="en-US" sz="1650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Soil Moisture vs Agricultural Yield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73103" y="8045977"/>
            <a:ext cx="10839450" cy="1951463"/>
            <a:chOff x="0" y="0"/>
            <a:chExt cx="14452600" cy="260195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4452600" cy="2601951"/>
              <a:chOff x="0" y="0"/>
              <a:chExt cx="2230340" cy="401536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230339" cy="401536"/>
              </a:xfrm>
              <a:custGeom>
                <a:avLst/>
                <a:gdLst/>
                <a:ahLst/>
                <a:cxnLst/>
                <a:rect r="r" b="b" t="t" l="l"/>
                <a:pathLst>
                  <a:path h="401536" w="2230339">
                    <a:moveTo>
                      <a:pt x="13950" y="0"/>
                    </a:moveTo>
                    <a:lnTo>
                      <a:pt x="2216390" y="0"/>
                    </a:lnTo>
                    <a:cubicBezTo>
                      <a:pt x="2224094" y="0"/>
                      <a:pt x="2230339" y="6246"/>
                      <a:pt x="2230339" y="13950"/>
                    </a:cubicBezTo>
                    <a:lnTo>
                      <a:pt x="2230339" y="387586"/>
                    </a:lnTo>
                    <a:cubicBezTo>
                      <a:pt x="2230339" y="395290"/>
                      <a:pt x="2224094" y="401536"/>
                      <a:pt x="2216390" y="401536"/>
                    </a:cubicBezTo>
                    <a:lnTo>
                      <a:pt x="13950" y="401536"/>
                    </a:lnTo>
                    <a:cubicBezTo>
                      <a:pt x="6246" y="401536"/>
                      <a:pt x="0" y="395290"/>
                      <a:pt x="0" y="387586"/>
                    </a:cubicBezTo>
                    <a:lnTo>
                      <a:pt x="0" y="13950"/>
                    </a:lnTo>
                    <a:cubicBezTo>
                      <a:pt x="0" y="6246"/>
                      <a:pt x="6246" y="0"/>
                      <a:pt x="13950" y="0"/>
                    </a:cubicBezTo>
                    <a:close/>
                  </a:path>
                </a:pathLst>
              </a:custGeom>
              <a:ln w="3810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9525"/>
                <a:ext cx="2230340" cy="4110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80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0" y="304025"/>
              <a:ext cx="14125946" cy="197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93" indent="-226697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</a:t>
              </a:r>
              <a:r>
                <a:rPr lang="en-US" b="true" sz="2100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oil pH :- </a:t>
              </a:r>
              <a:r>
                <a:rPr lang="en-US" sz="21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Optimal crop yield (up to 100 Tonnes/Ha) is achieved within a neutral pH range (6.5–7.0). Yield declines sharply when pH falls below 6.0 or exceeds 7.5.</a:t>
              </a:r>
            </a:p>
            <a:p>
              <a:pPr algn="l">
                <a:lnSpc>
                  <a:spcPts val="1680"/>
                </a:lnSpc>
              </a:pPr>
            </a:p>
            <a:p>
              <a:pPr algn="l" marL="453393" indent="-226697" lvl="1">
                <a:lnSpc>
                  <a:spcPts val="2520"/>
                </a:lnSpc>
                <a:buFont typeface="Arial"/>
                <a:buChar char="•"/>
              </a:pPr>
              <a:r>
                <a:rPr lang="en-US" b="true" sz="2100">
                  <a:solidFill>
                    <a:srgbClr val="00000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Soil Moisture :- </a:t>
              </a:r>
              <a:r>
                <a:rPr lang="en-US" sz="2100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Peak yield is concentrated between 20%–35% soil moisture. Moisture levels below 15% (characteristic of the Zaid season) severely restrict crop yield.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4569147" y="1152036"/>
            <a:ext cx="8030766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[ Soil pH</a:t>
            </a:r>
            <a:r>
              <a:rPr lang="en-US" sz="3600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 &amp; Moisture Impact on Yield 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0590" y="1028700"/>
            <a:ext cx="489882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FUTURE SCOPE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0887" y="2934205"/>
            <a:ext cx="10579741" cy="623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</a:t>
            </a: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achine Learning Integration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predictive models (e.g., Random Forest / XGBoost) for pre-planting yield and price forecasting.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Interactive Dashboard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Streamlit or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Power BI dashboard for real-time decision-making for farmers and extension officers.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Weather &amp; Sensor Data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live IoT weather and soil moisture sensors for precision farming alerts.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Crop Recommendation Engine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AI algorithms to recommend crop rotations based on water availability and profit margins.</a:t>
            </a:r>
          </a:p>
          <a:p>
            <a:pPr algn="l">
              <a:lnSpc>
                <a:spcPts val="3750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8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39190" y="4620140"/>
            <a:ext cx="11555052" cy="525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b="true" sz="230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Dataset (seasonal_agriculture_performance_dataset.csv) :- </a:t>
            </a:r>
            <a:r>
              <a:rPr lang="en-US" sz="23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4,000 raw agricultural farm records covering 28 environmental, financial, and operational variables. </a:t>
            </a: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b="true" sz="230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Statement (Project_Statement.pdf) :- </a:t>
            </a:r>
            <a:r>
              <a:rPr lang="en-US" sz="23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scope, objective guidelines, pr</a:t>
            </a:r>
            <a:r>
              <a:rPr lang="en-US" sz="23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oblem definition, and key analytical questions. </a:t>
            </a: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b="true" sz="230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Colab Notebook Code (Seasonal_Agriculture_Performance_Analysis.ipynb) :- </a:t>
            </a:r>
            <a:r>
              <a:rPr lang="en-US" sz="23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Python source code for data cleaning, EDA, ANOVA hypothesis testing, and Seaborn visualizations. </a:t>
            </a: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b="true" sz="230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Presentation Deck (Seasonal_Agriculture_Performance_PPT.pptx) :- </a:t>
            </a:r>
            <a:r>
              <a:rPr lang="en-US" sz="23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submission PPT covering data workflow, visual results, state/season analysis, and future recommendations. </a:t>
            </a:r>
          </a:p>
          <a:p>
            <a:pPr algn="l" marL="496571" indent="-248285" lvl="1">
              <a:lnSpc>
                <a:spcPts val="3450"/>
              </a:lnSpc>
              <a:buFont typeface="Arial"/>
              <a:buChar char="•"/>
            </a:pPr>
            <a:r>
              <a:rPr lang="en-US" b="true" sz="2300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Documentation (README.md) :- </a:t>
            </a:r>
            <a:r>
              <a:rPr lang="en-US" sz="23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project documentation, execution guide, methodology summary, and core insights. 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73103" y="3839090"/>
            <a:ext cx="12087225" cy="6265139"/>
            <a:chOff x="0" y="0"/>
            <a:chExt cx="2487083" cy="12891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87083" cy="1289123"/>
            </a:xfrm>
            <a:custGeom>
              <a:avLst/>
              <a:gdLst/>
              <a:ahLst/>
              <a:cxnLst/>
              <a:rect r="r" b="b" t="t" l="l"/>
              <a:pathLst>
                <a:path h="1289123" w="2487083">
                  <a:moveTo>
                    <a:pt x="27021" y="0"/>
                  </a:moveTo>
                  <a:lnTo>
                    <a:pt x="2460062" y="0"/>
                  </a:lnTo>
                  <a:cubicBezTo>
                    <a:pt x="2467228" y="0"/>
                    <a:pt x="2474102" y="2847"/>
                    <a:pt x="2479169" y="7914"/>
                  </a:cubicBezTo>
                  <a:cubicBezTo>
                    <a:pt x="2484236" y="12982"/>
                    <a:pt x="2487083" y="19855"/>
                    <a:pt x="2487083" y="27021"/>
                  </a:cubicBezTo>
                  <a:lnTo>
                    <a:pt x="2487083" y="1262102"/>
                  </a:lnTo>
                  <a:cubicBezTo>
                    <a:pt x="2487083" y="1269268"/>
                    <a:pt x="2484236" y="1276141"/>
                    <a:pt x="2479169" y="1281209"/>
                  </a:cubicBezTo>
                  <a:cubicBezTo>
                    <a:pt x="2474102" y="1286276"/>
                    <a:pt x="2467228" y="1289123"/>
                    <a:pt x="2460062" y="1289123"/>
                  </a:cubicBezTo>
                  <a:lnTo>
                    <a:pt x="27021" y="1289123"/>
                  </a:lnTo>
                  <a:cubicBezTo>
                    <a:pt x="19855" y="1289123"/>
                    <a:pt x="12982" y="1286276"/>
                    <a:pt x="7914" y="1281209"/>
                  </a:cubicBezTo>
                  <a:cubicBezTo>
                    <a:pt x="2847" y="1276141"/>
                    <a:pt x="0" y="1269268"/>
                    <a:pt x="0" y="1262102"/>
                  </a:cubicBezTo>
                  <a:lnTo>
                    <a:pt x="0" y="27021"/>
                  </a:lnTo>
                  <a:cubicBezTo>
                    <a:pt x="0" y="19855"/>
                    <a:pt x="2847" y="12982"/>
                    <a:pt x="7914" y="7914"/>
                  </a:cubicBezTo>
                  <a:cubicBezTo>
                    <a:pt x="12982" y="2847"/>
                    <a:pt x="19855" y="0"/>
                    <a:pt x="2702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487083" cy="12986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90590" y="1028700"/>
            <a:ext cx="4145459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GITHUB LINK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4058165"/>
            <a:ext cx="5372993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Repository Contents &amp; Deliverables :-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73103" y="2003203"/>
            <a:ext cx="9294392" cy="1572882"/>
            <a:chOff x="0" y="0"/>
            <a:chExt cx="1912426" cy="32363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12426" cy="323638"/>
            </a:xfrm>
            <a:custGeom>
              <a:avLst/>
              <a:gdLst/>
              <a:ahLst/>
              <a:cxnLst/>
              <a:rect r="r" b="b" t="t" l="l"/>
              <a:pathLst>
                <a:path h="323638" w="1912426">
                  <a:moveTo>
                    <a:pt x="14967" y="0"/>
                  </a:moveTo>
                  <a:lnTo>
                    <a:pt x="1897459" y="0"/>
                  </a:lnTo>
                  <a:cubicBezTo>
                    <a:pt x="1905725" y="0"/>
                    <a:pt x="1912426" y="6701"/>
                    <a:pt x="1912426" y="14967"/>
                  </a:cubicBezTo>
                  <a:lnTo>
                    <a:pt x="1912426" y="308671"/>
                  </a:lnTo>
                  <a:cubicBezTo>
                    <a:pt x="1912426" y="316937"/>
                    <a:pt x="1905725" y="323638"/>
                    <a:pt x="1897459" y="323638"/>
                  </a:cubicBezTo>
                  <a:lnTo>
                    <a:pt x="14967" y="323638"/>
                  </a:lnTo>
                  <a:cubicBezTo>
                    <a:pt x="6701" y="323638"/>
                    <a:pt x="0" y="316937"/>
                    <a:pt x="0" y="308671"/>
                  </a:cubicBezTo>
                  <a:lnTo>
                    <a:pt x="0" y="14967"/>
                  </a:lnTo>
                  <a:cubicBezTo>
                    <a:pt x="0" y="6701"/>
                    <a:pt x="6701" y="0"/>
                    <a:pt x="1496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912426" cy="333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63949" y="2780119"/>
            <a:ext cx="8712700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[ https://github.com/Yash192004/Seasonal-Agriculture-Performance-Analysis-Project ]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3949" y="2187883"/>
            <a:ext cx="87127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GitHub Repository Link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031687" y="8045977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42B051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039188" y="2549833"/>
            <a:ext cx="479622" cy="479622"/>
            <a:chOff x="0" y="0"/>
            <a:chExt cx="639496" cy="6394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9445" cy="639445"/>
            </a:xfrm>
            <a:custGeom>
              <a:avLst/>
              <a:gdLst/>
              <a:ahLst/>
              <a:cxnLst/>
              <a:rect r="r" b="b" t="t" l="l"/>
              <a:pathLst>
                <a:path h="639445" w="639445">
                  <a:moveTo>
                    <a:pt x="0" y="0"/>
                  </a:moveTo>
                  <a:lnTo>
                    <a:pt x="639445" y="0"/>
                  </a:lnTo>
                  <a:lnTo>
                    <a:pt x="639445" y="639445"/>
                  </a:lnTo>
                  <a:lnTo>
                    <a:pt x="0" y="63944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031687" y="8846610"/>
            <a:ext cx="269967" cy="269967"/>
            <a:chOff x="0" y="0"/>
            <a:chExt cx="359956" cy="3599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9918" cy="359918"/>
            </a:xfrm>
            <a:custGeom>
              <a:avLst/>
              <a:gdLst/>
              <a:ahLst/>
              <a:cxnLst/>
              <a:rect r="r" b="b" t="t" l="l"/>
              <a:pathLst>
                <a:path h="359918" w="359918">
                  <a:moveTo>
                    <a:pt x="0" y="0"/>
                  </a:moveTo>
                  <a:lnTo>
                    <a:pt x="359918" y="0"/>
                  </a:lnTo>
                  <a:lnTo>
                    <a:pt x="359918" y="359918"/>
                  </a:lnTo>
                  <a:lnTo>
                    <a:pt x="0" y="359918"/>
                  </a:lnTo>
                  <a:close/>
                </a:path>
              </a:pathLst>
            </a:custGeom>
            <a:solidFill>
              <a:srgbClr val="2E946B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050893" y="3931671"/>
            <a:ext cx="8467917" cy="6020871"/>
          </a:xfrm>
          <a:custGeom>
            <a:avLst/>
            <a:gdLst/>
            <a:ahLst/>
            <a:cxnLst/>
            <a:rect r="r" b="b" t="t" l="l"/>
            <a:pathLst>
              <a:path h="6020871" w="8467917">
                <a:moveTo>
                  <a:pt x="0" y="0"/>
                </a:moveTo>
                <a:lnTo>
                  <a:pt x="8467917" y="0"/>
                </a:lnTo>
                <a:lnTo>
                  <a:pt x="8467917" y="6020872"/>
                </a:lnTo>
                <a:lnTo>
                  <a:pt x="0" y="60208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990590" y="2172901"/>
            <a:ext cx="8534248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ourse</a:t>
            </a: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Name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</a:p>
          <a:p>
            <a:pPr algn="l" marL="604519" indent="-302260" lvl="1">
              <a:lnSpc>
                <a:spcPts val="4199"/>
              </a:lnSpc>
              <a:buFont typeface="Arial"/>
              <a:buChar char="•"/>
            </a:pPr>
            <a:r>
              <a:rPr lang="en-US" b="true" sz="2799" spc="1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Issuing Authority :- </a:t>
            </a:r>
            <a:r>
              <a:rPr lang="en-US" sz="2799" spc="1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VOIS / VI Foundation / Edunet Foundation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0590" y="1028700"/>
            <a:ext cx="7707064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COURSE CERTIFICATION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4791360">
            <a:off x="9738484" y="5138738"/>
            <a:ext cx="10464870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8776560">
            <a:off x="10406482" y="7899797"/>
            <a:ext cx="8608171" cy="0"/>
          </a:xfrm>
          <a:prstGeom prst="line">
            <a:avLst/>
          </a:prstGeom>
          <a:ln cap="rnd" w="9525">
            <a:solidFill>
              <a:srgbClr val="5FCBE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772217" y="-12697"/>
            <a:ext cx="4511021" cy="10299697"/>
            <a:chOff x="0" y="0"/>
            <a:chExt cx="6014695" cy="137329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1472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6014720">
                  <a:moveTo>
                    <a:pt x="4091051" y="0"/>
                  </a:moveTo>
                  <a:lnTo>
                    <a:pt x="6014720" y="0"/>
                  </a:lnTo>
                  <a:lnTo>
                    <a:pt x="6014720" y="13732890"/>
                  </a:lnTo>
                  <a:lnTo>
                    <a:pt x="0" y="13732890"/>
                  </a:lnTo>
                  <a:lnTo>
                    <a:pt x="4091051" y="0"/>
                  </a:lnTo>
                  <a:close/>
                </a:path>
              </a:pathLst>
            </a:custGeom>
            <a:solidFill>
              <a:srgbClr val="5FCBEF">
                <a:alpha val="1294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405162" y="-12697"/>
            <a:ext cx="3882838" cy="10299697"/>
            <a:chOff x="0" y="0"/>
            <a:chExt cx="5177117" cy="137329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77155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177155">
                  <a:moveTo>
                    <a:pt x="0" y="0"/>
                  </a:moveTo>
                  <a:lnTo>
                    <a:pt x="5177155" y="0"/>
                  </a:lnTo>
                  <a:lnTo>
                    <a:pt x="5177155" y="13732890"/>
                  </a:lnTo>
                  <a:lnTo>
                    <a:pt x="2418969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CBEF">
                <a:alpha val="392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398503" y="4572000"/>
            <a:ext cx="4889497" cy="5715000"/>
            <a:chOff x="0" y="0"/>
            <a:chExt cx="6519329" cy="762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19291" cy="7620000"/>
            </a:xfrm>
            <a:custGeom>
              <a:avLst/>
              <a:gdLst/>
              <a:ahLst/>
              <a:cxnLst/>
              <a:rect r="r" b="b" t="t" l="l"/>
              <a:pathLst>
                <a:path h="7620000" w="6519291">
                  <a:moveTo>
                    <a:pt x="0" y="7620000"/>
                  </a:moveTo>
                  <a:lnTo>
                    <a:pt x="6519291" y="0"/>
                  </a:lnTo>
                  <a:lnTo>
                    <a:pt x="6519291" y="7620000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001750" y="-12697"/>
            <a:ext cx="4281488" cy="10299697"/>
            <a:chOff x="0" y="0"/>
            <a:chExt cx="5708650" cy="137329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08650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5708650">
                  <a:moveTo>
                    <a:pt x="0" y="0"/>
                  </a:moveTo>
                  <a:lnTo>
                    <a:pt x="5708650" y="0"/>
                  </a:lnTo>
                  <a:lnTo>
                    <a:pt x="5708650" y="13732890"/>
                  </a:lnTo>
                  <a:lnTo>
                    <a:pt x="4941443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B0E4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48091" y="-12697"/>
            <a:ext cx="1935137" cy="10299697"/>
            <a:chOff x="0" y="0"/>
            <a:chExt cx="2580183" cy="13732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80259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580259">
                  <a:moveTo>
                    <a:pt x="2039493" y="0"/>
                  </a:moveTo>
                  <a:lnTo>
                    <a:pt x="2580259" y="0"/>
                  </a:lnTo>
                  <a:lnTo>
                    <a:pt x="2580259" y="13732890"/>
                  </a:lnTo>
                  <a:lnTo>
                    <a:pt x="0" y="13732890"/>
                  </a:lnTo>
                  <a:lnTo>
                    <a:pt x="2039493" y="0"/>
                  </a:lnTo>
                  <a:close/>
                </a:path>
              </a:pathLst>
            </a:custGeom>
            <a:solidFill>
              <a:srgbClr val="2E83C3">
                <a:alpha val="4862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08498" y="-12697"/>
            <a:ext cx="1874739" cy="10299697"/>
            <a:chOff x="0" y="0"/>
            <a:chExt cx="2499652" cy="137329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9614" cy="13732890"/>
            </a:xfrm>
            <a:custGeom>
              <a:avLst/>
              <a:gdLst/>
              <a:ahLst/>
              <a:cxnLst/>
              <a:rect r="r" b="b" t="t" l="l"/>
              <a:pathLst>
                <a:path h="13732890" w="2499614">
                  <a:moveTo>
                    <a:pt x="0" y="0"/>
                  </a:moveTo>
                  <a:lnTo>
                    <a:pt x="2499614" y="0"/>
                  </a:lnTo>
                  <a:lnTo>
                    <a:pt x="2499614" y="13732890"/>
                  </a:lnTo>
                  <a:lnTo>
                    <a:pt x="2218817" y="13732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6292">
                <a:alpha val="63922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557497" y="5384797"/>
            <a:ext cx="2725741" cy="4902203"/>
            <a:chOff x="0" y="0"/>
            <a:chExt cx="3634321" cy="65362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34359" cy="6536309"/>
            </a:xfrm>
            <a:custGeom>
              <a:avLst/>
              <a:gdLst/>
              <a:ahLst/>
              <a:cxnLst/>
              <a:rect r="r" b="b" t="t" l="l"/>
              <a:pathLst>
                <a:path h="6536309" w="3634359">
                  <a:moveTo>
                    <a:pt x="0" y="6536309"/>
                  </a:moveTo>
                  <a:lnTo>
                    <a:pt x="3634359" y="0"/>
                  </a:lnTo>
                  <a:lnTo>
                    <a:pt x="3634359" y="6536309"/>
                  </a:lnTo>
                  <a:close/>
                </a:path>
              </a:pathLst>
            </a:custGeom>
            <a:solidFill>
              <a:srgbClr val="17B0E4">
                <a:alpha val="43529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6019800"/>
            <a:ext cx="673103" cy="4267200"/>
            <a:chOff x="0" y="0"/>
            <a:chExt cx="897471" cy="568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7509" cy="5689600"/>
            </a:xfrm>
            <a:custGeom>
              <a:avLst/>
              <a:gdLst/>
              <a:ahLst/>
              <a:cxnLst/>
              <a:rect r="r" b="b" t="t" l="l"/>
              <a:pathLst>
                <a:path h="5689600" w="897509">
                  <a:moveTo>
                    <a:pt x="0" y="5689600"/>
                  </a:moveTo>
                  <a:lnTo>
                    <a:pt x="0" y="0"/>
                  </a:lnTo>
                  <a:lnTo>
                    <a:pt x="897509" y="5689600"/>
                  </a:lnTo>
                  <a:close/>
                </a:path>
              </a:pathLst>
            </a:custGeom>
            <a:solidFill>
              <a:srgbClr val="5FCBEF">
                <a:alpha val="48627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0007" y="5201336"/>
            <a:ext cx="687400" cy="592588"/>
            <a:chOff x="0" y="0"/>
            <a:chExt cx="916534" cy="7901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6559" cy="790067"/>
            </a:xfrm>
            <a:custGeom>
              <a:avLst/>
              <a:gdLst/>
              <a:ahLst/>
              <a:cxnLst/>
              <a:rect r="r" b="b" t="t" l="l"/>
              <a:pathLst>
                <a:path h="790067" w="916559">
                  <a:moveTo>
                    <a:pt x="0" y="395097"/>
                  </a:moveTo>
                  <a:lnTo>
                    <a:pt x="197485" y="0"/>
                  </a:lnTo>
                  <a:lnTo>
                    <a:pt x="718947" y="0"/>
                  </a:lnTo>
                  <a:lnTo>
                    <a:pt x="916559" y="395097"/>
                  </a:lnTo>
                  <a:lnTo>
                    <a:pt x="718947" y="790067"/>
                  </a:lnTo>
                  <a:lnTo>
                    <a:pt x="197485" y="790067"/>
                  </a:lnTo>
                  <a:close/>
                </a:path>
              </a:pathLst>
            </a:custGeom>
            <a:solidFill>
              <a:srgbClr val="5FCBE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670007" y="3592087"/>
            <a:ext cx="537591" cy="463439"/>
            <a:chOff x="0" y="0"/>
            <a:chExt cx="716788" cy="6179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6788" cy="617855"/>
            </a:xfrm>
            <a:custGeom>
              <a:avLst/>
              <a:gdLst/>
              <a:ahLst/>
              <a:cxnLst/>
              <a:rect r="r" b="b" t="t" l="l"/>
              <a:pathLst>
                <a:path h="617855" w="716788">
                  <a:moveTo>
                    <a:pt x="0" y="308991"/>
                  </a:moveTo>
                  <a:lnTo>
                    <a:pt x="154432" y="0"/>
                  </a:lnTo>
                  <a:lnTo>
                    <a:pt x="562356" y="0"/>
                  </a:lnTo>
                  <a:lnTo>
                    <a:pt x="716788" y="308991"/>
                  </a:lnTo>
                  <a:lnTo>
                    <a:pt x="562356" y="617855"/>
                  </a:lnTo>
                  <a:lnTo>
                    <a:pt x="154432" y="617855"/>
                  </a:lnTo>
                  <a:close/>
                </a:path>
              </a:pathLst>
            </a:custGeom>
            <a:solidFill>
              <a:srgbClr val="2E83C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6323974" y="3303299"/>
            <a:ext cx="346034" cy="298304"/>
            <a:chOff x="0" y="0"/>
            <a:chExt cx="461378" cy="3977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61391" cy="397764"/>
            </a:xfrm>
            <a:custGeom>
              <a:avLst/>
              <a:gdLst/>
              <a:ahLst/>
              <a:cxnLst/>
              <a:rect r="r" b="b" t="t" l="l"/>
              <a:pathLst>
                <a:path h="397764" w="461391">
                  <a:moveTo>
                    <a:pt x="0" y="198882"/>
                  </a:moveTo>
                  <a:lnTo>
                    <a:pt x="99441" y="0"/>
                  </a:lnTo>
                  <a:lnTo>
                    <a:pt x="361950" y="0"/>
                  </a:lnTo>
                  <a:lnTo>
                    <a:pt x="461391" y="198882"/>
                  </a:lnTo>
                  <a:lnTo>
                    <a:pt x="361950" y="397764"/>
                  </a:lnTo>
                  <a:lnTo>
                    <a:pt x="99441" y="397764"/>
                  </a:lnTo>
                  <a:close/>
                </a:path>
              </a:pathLst>
            </a:custGeom>
            <a:solidFill>
              <a:srgbClr val="EBEBEB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684108" y="3572738"/>
            <a:ext cx="4544354" cy="3141524"/>
            <a:chOff x="0" y="0"/>
            <a:chExt cx="6059138" cy="41886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59138" cy="4188701"/>
            </a:xfrm>
            <a:custGeom>
              <a:avLst/>
              <a:gdLst/>
              <a:ahLst/>
              <a:cxnLst/>
              <a:rect r="r" b="b" t="t" l="l"/>
              <a:pathLst>
                <a:path h="4188701" w="6059138">
                  <a:moveTo>
                    <a:pt x="0" y="0"/>
                  </a:moveTo>
                  <a:lnTo>
                    <a:pt x="6059138" y="0"/>
                  </a:lnTo>
                  <a:lnTo>
                    <a:pt x="6059138" y="4188701"/>
                  </a:lnTo>
                  <a:lnTo>
                    <a:pt x="0" y="41887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8788" r="-274310" b="-2221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66700"/>
              <a:ext cx="6059138" cy="44553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080"/>
                </a:lnSpc>
              </a:pPr>
              <a:r>
                <a:rPr lang="en-US" b="true" sz="8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</a:t>
              </a:r>
            </a:p>
            <a:p>
              <a:pPr algn="ctr">
                <a:lnSpc>
                  <a:spcPts val="12080"/>
                </a:lnSpc>
              </a:pPr>
              <a:r>
                <a:rPr lang="en-US" b="true" sz="8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DAHVP-r1Ksw</dc:identifier>
  <dcterms:modified xsi:type="dcterms:W3CDTF">2011-08-01T06:04:30Z</dcterms:modified>
  <cp:revision>1</cp:revision>
  <dc:title>DATA ANALYSIS PROJECT - 1</dc:title>
</cp:coreProperties>
</file>